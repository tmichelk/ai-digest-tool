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097280"/>
            <a:ext cx="3931920" cy="347472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6EE7B7"/>
                </a:solidFill>
                <a:latin typeface="Helvetica Neue"/>
              </a:rPr>
              <a:t>🤖  AUTOMATED NEWS DIGEST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91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1F5F9"/>
                </a:solidFill>
                <a:latin typeface="Helvetica Neue"/>
              </a:rPr>
              <a:t>AI Digest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16916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6EE7B7"/>
                </a:solidFill>
                <a:latin typeface="Helvetica Neue"/>
              </a:rPr>
              <a:t>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Helvetica Neue"/>
              </a:rPr>
              <a:t>最新AIニュースをClaudeが毎朝要約し、LINEに自動配信する仕組みの全体像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520440"/>
            <a:ext cx="3931920" cy="27432"/>
          </a:xfrm>
          <a:prstGeom prst="rect">
            <a:avLst/>
          </a:prstGeom>
          <a:solidFill>
            <a:srgbClr val="2226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Helvetica Neue"/>
              </a:rPr>
              <a:t>GitHub Actions  ·  RSS 15ソース  ·  Claude AI  ·  LINE Messaging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全体の流れ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Helvetica Neue"/>
              </a:rPr>
              <a:t>4ステップで自動配信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377440" cy="3840480"/>
          </a:xfrm>
          <a:prstGeom prst="rect">
            <a:avLst/>
          </a:prstGeom>
          <a:solidFill>
            <a:srgbClr val="121328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1F5F9"/>
                </a:solidFill>
                <a:latin typeface="Helvetica Neue"/>
              </a:rP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Helvetica Neue"/>
              </a:rPr>
              <a:t>毎朝7時に
自動起動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GitHub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4069080"/>
            <a:ext cx="137160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3108960"/>
            <a:ext cx="612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554480"/>
            <a:ext cx="2377440" cy="3840480"/>
          </a:xfrm>
          <a:prstGeom prst="rect">
            <a:avLst/>
          </a:prstGeom>
          <a:solidFill>
            <a:srgbClr val="0D2018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1F5F9"/>
                </a:solidFill>
                <a:latin typeface="Helvetica Neue"/>
              </a:rPr>
              <a:t>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Helvetica Neue"/>
              </a:rPr>
              <a:t>ニュースを
一括収集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RSS 15ソース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5928" y="4069080"/>
            <a:ext cx="137160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08960"/>
            <a:ext cx="612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554480"/>
            <a:ext cx="2377440" cy="3840480"/>
          </a:xfrm>
          <a:prstGeom prst="rect">
            <a:avLst/>
          </a:prstGeom>
          <a:solidFill>
            <a:srgbClr val="201A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1F5F9"/>
                </a:solidFill>
                <a:latin typeface="Helvetica Neue"/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Helvetica Neue"/>
              </a:rPr>
              <a:t>AIが選別・
要約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Claude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7416" y="4069080"/>
            <a:ext cx="1371600" cy="320040"/>
          </a:xfrm>
          <a:prstGeom prst="rect">
            <a:avLst/>
          </a:prstGeom>
          <a:solidFill>
            <a:srgbClr val="3A2A0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BF24"/>
                </a:solidFill>
                <a:latin typeface="Helvetica Neue"/>
              </a:rPr>
              <a:t>約$0.05/回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108960"/>
            <a:ext cx="612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Helvetica Neue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554480"/>
            <a:ext cx="2377440" cy="3840480"/>
          </a:xfrm>
          <a:prstGeom prst="rect">
            <a:avLst/>
          </a:prstGeom>
          <a:solidFill>
            <a:srgbClr val="002000"/>
          </a:solidFill>
          <a:ln w="19050">
            <a:solidFill>
              <a:srgbClr val="00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1F5F9"/>
                </a:solidFill>
                <a:latin typeface="Helvetica Neue"/>
              </a:rP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560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9"/>
                </a:solidFill>
                <a:latin typeface="Helvetica Neue"/>
              </a:rPr>
              <a:t>LINEに
送信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3520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LINE Messaging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18904" y="4069080"/>
            <a:ext cx="137160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収集するニュースカテゴリ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Helvetica Neue"/>
              </a:rPr>
              <a:t>15ソース・5カテゴリ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645920"/>
            <a:ext cx="2103120" cy="3474720"/>
          </a:xfrm>
          <a:prstGeom prst="rect">
            <a:avLst/>
          </a:prstGeom>
          <a:solidFill>
            <a:srgbClr val="12142E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新ツール・サービス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461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OpenAI / Anthropic
Google AI / DeepMind / Meta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6352" y="1645920"/>
            <a:ext cx="2103120" cy="3474720"/>
          </a:xfrm>
          <a:prstGeom prst="rect">
            <a:avLst/>
          </a:prstGeom>
          <a:solidFill>
            <a:srgbClr val="0D2018"/>
          </a:solidFill>
          <a:ln w="1905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研究・技術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32461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Hugging Face
ArXiv CS.AI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1645920"/>
            <a:ext cx="2103120" cy="3474720"/>
          </a:xfrm>
          <a:prstGeom prst="rect">
            <a:avLst/>
          </a:prstGeom>
          <a:solidFill>
            <a:srgbClr val="201A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ビジネス活用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32461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TechCrunch / VentureBeat
The Verge / Wired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1645920"/>
            <a:ext cx="2103120" cy="3474720"/>
          </a:xfrm>
          <a:prstGeom prst="rect">
            <a:avLst/>
          </a:prstGeom>
          <a:solidFill>
            <a:srgbClr val="251018"/>
          </a:solidFill>
          <a:ln w="19050">
            <a:solidFill>
              <a:srgbClr val="F4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規制・政策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32461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MIT Technology Review
Ars Technica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74352" y="1645920"/>
            <a:ext cx="2103120" cy="3474720"/>
          </a:xfrm>
          <a:prstGeom prst="rect">
            <a:avLst/>
          </a:prstGeom>
          <a:solidFill>
            <a:srgbClr val="18102E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2" y="1874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2560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Helvetica Neue"/>
              </a:rPr>
              <a:t>Cursor情報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32461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Cursor Blog / Changelog
Reddit r/cursor_ai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料金と必要なもの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Helvetica Neue"/>
              </a:rPr>
              <a:t>ほぼ無料で動く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303520" cy="658368"/>
          </a:xfrm>
          <a:prstGeom prst="rect">
            <a:avLst/>
          </a:prstGeom>
          <a:solidFill>
            <a:srgbClr val="0D2018"/>
          </a:solidFill>
          <a:ln w="12700">
            <a:solidFill>
              <a:srgbClr val="1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550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9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月2,000分の無料枠内で十分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764792"/>
            <a:ext cx="109728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68296"/>
            <a:ext cx="5303520" cy="658368"/>
          </a:xfrm>
          <a:prstGeom prst="rect">
            <a:avLst/>
          </a:prstGeom>
          <a:solidFill>
            <a:srgbClr val="0D2018"/>
          </a:solidFill>
          <a:ln w="12700">
            <a:solidFill>
              <a:srgbClr val="1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RSSフィード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全15ソースが無料で利用可能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532888"/>
            <a:ext cx="109728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36392"/>
            <a:ext cx="5303520" cy="658368"/>
          </a:xfrm>
          <a:prstGeom prst="rect">
            <a:avLst/>
          </a:prstGeom>
          <a:solidFill>
            <a:srgbClr val="0D2018"/>
          </a:solidFill>
          <a:ln w="12700">
            <a:solidFill>
              <a:srgbClr val="1A4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912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LINE Messaging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655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月200通まで無料（1日1通で余裕）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300984"/>
            <a:ext cx="109728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04488"/>
            <a:ext cx="5303520" cy="658368"/>
          </a:xfrm>
          <a:prstGeom prst="rect">
            <a:avLst/>
          </a:prstGeom>
          <a:solidFill>
            <a:srgbClr val="201808"/>
          </a:solidFill>
          <a:ln w="12700">
            <a:solidFill>
              <a:srgbClr val="402A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Claude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336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唯一の有料項目 — 月$1〜3程度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4069080"/>
            <a:ext cx="1097280" cy="320040"/>
          </a:xfrm>
          <a:prstGeom prst="rect">
            <a:avLst/>
          </a:prstGeom>
          <a:solidFill>
            <a:srgbClr val="3A2A0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BF24"/>
                </a:solidFill>
                <a:latin typeface="Helvetica Neue"/>
              </a:rPr>
              <a:t>約$0.05/回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Helvetica Neue"/>
              </a:rPr>
              <a:t>必要なアカウント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600200"/>
            <a:ext cx="512064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Helvetica Neue"/>
              </a:rPr>
              <a:t>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6550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92938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コードの置き場所・自動実行の基盤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1764792"/>
            <a:ext cx="91440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368296"/>
            <a:ext cx="512064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24780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Helvetica Neue"/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423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Anthropic Console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697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Claude APIキー（$5チャージ必要）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2532888"/>
            <a:ext cx="914400" cy="320040"/>
          </a:xfrm>
          <a:prstGeom prst="rect">
            <a:avLst/>
          </a:prstGeom>
          <a:solidFill>
            <a:srgbClr val="3A2A0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BBF24"/>
                </a:solidFill>
                <a:latin typeface="Helvetica Neue"/>
              </a:rPr>
              <a:t>有料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136392"/>
            <a:ext cx="5120640" cy="658368"/>
          </a:xfrm>
          <a:prstGeom prst="rect">
            <a:avLst/>
          </a:prstGeom>
          <a:solidFill>
            <a:srgbClr val="1A1D27"/>
          </a:solidFill>
          <a:ln w="1270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1F5F9"/>
                </a:solidFill>
                <a:latin typeface="Helvetica Neue"/>
              </a:rPr>
              <a:t>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1912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Helvetica Neue"/>
              </a:rPr>
              <a:t>LINE Developers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4655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Helvetica Neue"/>
              </a:rPr>
              <a:t>LINEボット作成（無料・5分）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0" y="3300984"/>
            <a:ext cx="914400" cy="320040"/>
          </a:xfrm>
          <a:prstGeom prst="rect">
            <a:avLst/>
          </a:prstGeom>
          <a:solidFill>
            <a:srgbClr val="1A3A2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6EE7B7"/>
                </a:solidFill>
                <a:latin typeface="Helvetica Neue"/>
              </a:rPr>
              <a:t>無料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セットアップの流れ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Helvetica Neue"/>
              </a:rPr>
              <a:t>全4ステップで完了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600200"/>
            <a:ext cx="2560320" cy="39319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00784" y="1801368"/>
            <a:ext cx="402336" cy="402336"/>
          </a:xfrm>
          <a:prstGeom prst="rect">
            <a:avLst/>
          </a:prstGeom>
          <a:solidFill>
            <a:srgbClr val="2226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818CF8"/>
                </a:solidFill>
                <a:latin typeface="Helvetica Neue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3063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GitHubに
コードをpush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977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リポジトリをPrivateで作成し
このツールのコードをアップロード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600200"/>
            <a:ext cx="2560320" cy="39319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07992" y="1801368"/>
            <a:ext cx="402336" cy="402336"/>
          </a:xfrm>
          <a:prstGeom prst="rect">
            <a:avLst/>
          </a:prstGeom>
          <a:solidFill>
            <a:srgbClr val="2226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818CF8"/>
                </a:solidFill>
                <a:latin typeface="Helvetica Neue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63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LINE公式
アカウントを作成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977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LINE Developersでボットを作り
自分のLINEに友だち追加する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600200"/>
            <a:ext cx="2560320" cy="39319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1801368"/>
            <a:ext cx="402336" cy="402336"/>
          </a:xfrm>
          <a:prstGeom prst="rect">
            <a:avLst/>
          </a:prstGeom>
          <a:solidFill>
            <a:srgbClr val="2226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818CF8"/>
                </a:solidFill>
                <a:latin typeface="Helvetica Neue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063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APIキーを
3つ登録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977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GitHub SecretsにAnthropicと
LINEのキーを設定する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416" y="1600200"/>
            <a:ext cx="2560320" cy="3931920"/>
          </a:xfrm>
          <a:prstGeom prst="rect">
            <a:avLst/>
          </a:prstGeom>
          <a:solidFill>
            <a:srgbClr val="1A1D27"/>
          </a:solidFill>
          <a:ln w="19050">
            <a:solidFill>
              <a:srgbClr val="222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22408" y="1801368"/>
            <a:ext cx="402336" cy="402336"/>
          </a:xfrm>
          <a:prstGeom prst="rect">
            <a:avLst/>
          </a:prstGeom>
          <a:solidFill>
            <a:srgbClr val="22263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818CF8"/>
                </a:solidFill>
                <a:latin typeface="Helvetica Neue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1F5F9"/>
                </a:solidFill>
                <a:latin typeface="Helvetica Neue"/>
              </a:rPr>
              <a:t>▶️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063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Helvetica Neue"/>
              </a:rPr>
              <a:t>手動実行で
動作確認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9776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Helvetica Neue"/>
              </a:rPr>
              <a:t>GitHub ActionsでRun workflowを
クリックしてLINEに届くか確認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